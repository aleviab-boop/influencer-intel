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-1463040" y="-4572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320000">
            <a:off x="-1645920" y="91440"/>
            <a:ext cx="493776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8778240" y="60350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320000">
            <a:off x="8595360" y="6583680"/>
            <a:ext cx="512064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160520" y="2395728"/>
            <a:ext cx="566928" cy="530352"/>
          </a:xfrm>
          <a:prstGeom prst="heart">
            <a:avLst/>
          </a:prstGeom>
          <a:solidFill>
            <a:srgbClr val="FFFFFF">
              <a:alpha val="0"/>
            </a:srgbClr>
          </a:solidFill>
          <a:ln w="31750">
            <a:solidFill>
              <a:srgbClr val="2216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2523744"/>
            <a:ext cx="292608" cy="274320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22860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566160" y="3310128"/>
            <a:ext cx="5056632" cy="0"/>
          </a:xfrm>
          <a:prstGeom prst="line">
            <a:avLst/>
          </a:prstGeom>
          <a:noFill/>
          <a:ln w="19050">
            <a:solidFill>
              <a:srgbClr val="8B6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3246120"/>
            <a:ext cx="128016" cy="128016"/>
          </a:xfrm>
          <a:prstGeom prst="diamond">
            <a:avLst/>
          </a:prstGeom>
          <a:solidFill>
            <a:srgbClr val="8B6DF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456432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India-First Influencer Discovery, Built AI-Native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041648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August 2026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6199632"/>
            <a:ext cx="523951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6199632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Proprietary &amp; Confidential  |  Prepared for leadership &amp; investment review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 is a search engine for creators. You type in plain English — a full campaign brief or a quick everyday prompt — and get back ranked, real influencers with live profile data, ready to reach out to. No filters to fight, no lists to buy.</a:t>
            </a:r>
            <a:endParaRPr lang="en-US" sz="1450" dirty="0"/>
          </a:p>
          <a:p>
            <a:pPr algn="l" indent="0" marL="0">
              <a:lnSpc>
                <a:spcPct val="114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exists because influencer marketing in India runs on gut feel, WhatsApp forwards and agency spreadsheets. Influencer Intel replaces that with an AI-native discovery engine tuned for India — regional languages, festival campaigns, and the long tail of creators global tools don’t index.</a:t>
            </a:r>
            <a:endParaRPr lang="en-US" sz="1450" dirty="0"/>
          </a:p>
          <a:p>
            <a:pPr algn="l" indent="0" marL="0">
              <a:lnSpc>
                <a:spcPct val="114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it compounds. Every search is stored and re-ranked, so the underlying database grows on its own with each brief a user runs. The more it’s used, the more defensible it becomes.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Influencer Intel?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5298" y="2386584"/>
            <a:ext cx="230429" cy="384048"/>
          </a:xfrm>
          <a:prstGeom prst="lightningBolt">
            <a:avLst/>
          </a:prstGeom>
          <a:solidFill>
            <a:srgbClr val="6C4DF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Seconds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plain-English brief becomes a ranked shortlist — not hours of manual sourcing.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444191"/>
            <a:ext cx="384048" cy="130576"/>
          </a:xfrm>
          <a:prstGeom prst="roundRect">
            <a:avLst>
              <a:gd name="adj" fmla="val 21008"/>
            </a:avLst>
          </a:prstGeom>
          <a:solidFill>
            <a:srgbClr val="6C4D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1688" y="2569007"/>
            <a:ext cx="384048" cy="130576"/>
          </a:xfrm>
          <a:prstGeom prst="roundRect">
            <a:avLst>
              <a:gd name="adj" fmla="val 21008"/>
            </a:avLst>
          </a:prstGeom>
          <a:solidFill>
            <a:srgbClr val="6C4D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61688" y="2693822"/>
            <a:ext cx="384048" cy="130576"/>
          </a:xfrm>
          <a:prstGeom prst="roundRect">
            <a:avLst>
              <a:gd name="adj" fmla="val 21008"/>
            </a:avLst>
          </a:prstGeom>
          <a:solidFill>
            <a:srgbClr val="6C4D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198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Engines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web search, a live public-profile crawl and the internal database run in parallel.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8100000">
            <a:off x="7104888" y="2386584"/>
            <a:ext cx="384048" cy="384048"/>
          </a:xfrm>
          <a:prstGeom prst="teardrop">
            <a:avLst/>
          </a:prstGeom>
          <a:solidFill>
            <a:srgbClr val="6C4DF6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India-First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96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Vernacular, regional and festival-aware — tuned for how India actually discovers creators.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96528" y="2103120"/>
            <a:ext cx="2487168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5695" y="2386584"/>
            <a:ext cx="268834" cy="384048"/>
          </a:xfrm>
          <a:prstGeom prst="upArrow">
            <a:avLst/>
          </a:prstGeom>
          <a:solidFill>
            <a:srgbClr val="6C4DF6"/>
          </a:solidFill>
          <a:ln/>
        </p:spPr>
      </p:sp>
      <p:sp>
        <p:nvSpPr>
          <p:cNvPr id="22" name="Text 20"/>
          <p:cNvSpPr/>
          <p:nvPr/>
        </p:nvSpPr>
        <p:spPr>
          <a:xfrm>
            <a:off x="8906256" y="285292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Self-Growing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42832" y="3182112"/>
            <a:ext cx="21945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search enriches a private database, so the platform gets sharper the more it’s used.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Describe a campaign the way you’d brief a colleague — and get real creators back, ranked for India.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5550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“Discovery in India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5550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still done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i="1" dirty="0">
                <a:solidFill>
                  <a:srgbClr val="5550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hand.”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85216" y="3794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booming creator market is being sourced from spreadsheets, WhatsApp forwards and whoever the agency already knows.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" y="5074920"/>
            <a:ext cx="4206240" cy="0"/>
          </a:xfrm>
          <a:prstGeom prst="line">
            <a:avLst/>
          </a:prstGeom>
          <a:noFill/>
          <a:ln w="19050">
            <a:solidFill>
              <a:srgbClr val="8B6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5138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 is structural, not incremental.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883664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95160" y="1883664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spend in India is scaling fast — but discovery stays manual, slow and biased.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2944368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9992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95160" y="2999232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Global tools are US-first; vernacular, regional and festival creators fall through the cracks.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4059936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41148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95160" y="41148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Bought lists can’t answer the one question that matters: who fits this campaign, right now?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60720" y="5175504"/>
            <a:ext cx="5852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5230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95160" y="5230368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answer in seconds — live data, ranked for India, sharper every time someone searches.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&amp; Vet Creators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working feature set, live today — not a roadmap.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066544"/>
            <a:ext cx="307238" cy="30723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8917" y="2296973"/>
            <a:ext cx="134417" cy="134417"/>
          </a:xfrm>
          <a:prstGeom prst="line">
            <a:avLst/>
          </a:prstGeom>
          <a:noFill/>
          <a:ln w="31750">
            <a:solidFill>
              <a:srgbClr val="6C4D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search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 a brief or prompt in plain English; the AI reads intent and returns matching creators.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98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@handle lookup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Paste any handle for a full, live profile snapshot on demand — vet a creator instantly.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3692" y="2066544"/>
            <a:ext cx="326441" cy="384048"/>
          </a:xfrm>
          <a:prstGeom prst="can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30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database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996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private, self-growing library of every creator the platform has seen — searchable and yours.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965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9848088" y="2066544"/>
            <a:ext cx="384048" cy="384048"/>
          </a:xfrm>
          <a:prstGeom prst="hexagon">
            <a:avLst/>
          </a:prstGeom>
          <a:solidFill>
            <a:srgbClr val="6C4DF6"/>
          </a:solidFill>
          <a:ln/>
        </p:spPr>
      </p:sp>
      <p:sp>
        <p:nvSpPr>
          <p:cNvPr id="22" name="Text 20"/>
          <p:cNvSpPr/>
          <p:nvPr/>
        </p:nvSpPr>
        <p:spPr>
          <a:xfrm>
            <a:off x="89062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Authenticity score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428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fake-follower check that flags bought audiences before you spend on them.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385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0088" y="4078224"/>
            <a:ext cx="384048" cy="384048"/>
          </a:xfrm>
          <a:prstGeom prst="pie">
            <a:avLst>
              <a:gd name="adj1" fmla="val 10800000"/>
              <a:gd name="adj2" fmla="val 20400000"/>
            </a:avLst>
          </a:prstGeom>
          <a:solidFill>
            <a:srgbClr val="6C4DF6"/>
          </a:solidFill>
          <a:ln/>
        </p:spPr>
      </p:sp>
      <p:sp>
        <p:nvSpPr>
          <p:cNvPr id="26" name="Text 24"/>
          <p:cNvSpPr/>
          <p:nvPr/>
        </p:nvSpPr>
        <p:spPr>
          <a:xfrm>
            <a:off x="20482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Engagement rate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0848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ER for any creator, so shortlists rank on real reach, not follower vanity.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817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33288" y="4078224"/>
            <a:ext cx="230429" cy="384048"/>
          </a:xfrm>
          <a:prstGeom prst="chevron">
            <a:avLst/>
          </a:prstGeom>
          <a:solidFill>
            <a:srgbClr val="6C4DF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06110" y="4078224"/>
            <a:ext cx="230429" cy="384048"/>
          </a:xfrm>
          <a:prstGeom prst="chevron">
            <a:avLst/>
          </a:prstGeom>
          <a:solidFill>
            <a:srgbClr val="8B6DF5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Competitor collabs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280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 which creators rival brands already work with — mine their rosters for talent.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249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76488" y="4078224"/>
            <a:ext cx="384048" cy="384048"/>
          </a:xfrm>
          <a:prstGeom prst="star5">
            <a:avLst/>
          </a:prstGeom>
          <a:solidFill>
            <a:srgbClr val="6C4DF6"/>
          </a:solidFill>
          <a:ln/>
        </p:spPr>
      </p:sp>
      <p:sp>
        <p:nvSpPr>
          <p:cNvPr id="35" name="Text 33"/>
          <p:cNvSpPr/>
          <p:nvPr/>
        </p:nvSpPr>
        <p:spPr>
          <a:xfrm>
            <a:off x="75346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Saved creators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5712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Shortlist and organise creators into lists for a team, a client or a campaign.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Create, Reach Out &amp; Run Campaigns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18488" y="1837944"/>
            <a:ext cx="384048" cy="384048"/>
          </a:xfrm>
          <a:prstGeom prst="star4">
            <a:avLst/>
          </a:prstGeom>
          <a:solidFill>
            <a:srgbClr val="6C4DF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content generator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ideas, hooks and post concepts tailored to the brand and creator.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837944"/>
            <a:ext cx="384048" cy="314919"/>
          </a:xfrm>
          <a:prstGeom prst="wedgeRoundRectCallout">
            <a:avLst/>
          </a:prstGeom>
          <a:solidFill>
            <a:srgbClr val="6C4D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Reply assistant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564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Drafts and suggests replies, so outreach and negotiation stay fast and on-brand.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1914754"/>
            <a:ext cx="384048" cy="230429"/>
          </a:xfrm>
          <a:prstGeom prst="rightArrow">
            <a:avLst/>
          </a:prstGeom>
          <a:solidFill>
            <a:srgbClr val="6C4D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Comment-to-DM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996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Turns post comments into direct-message conversations automatically, at scale.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96528" y="15544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96094" y="1837944"/>
            <a:ext cx="288036" cy="384048"/>
          </a:xfrm>
          <a:prstGeom prst="roundRect">
            <a:avLst>
              <a:gd name="adj" fmla="val 9524"/>
            </a:avLst>
          </a:prstGeom>
          <a:solidFill>
            <a:srgbClr val="6C4DF6"/>
          </a:solidFill>
          <a:ln/>
        </p:spPr>
      </p:sp>
      <p:sp>
        <p:nvSpPr>
          <p:cNvPr id="20" name="Text 18"/>
          <p:cNvSpPr/>
          <p:nvPr/>
        </p:nvSpPr>
        <p:spPr>
          <a:xfrm>
            <a:off x="8906256" y="23042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Outreach drafts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42832" y="26334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first-pass message per creator — shortlist to first contact without leaving the tool.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488" y="3941064"/>
            <a:ext cx="384048" cy="384048"/>
          </a:xfrm>
          <a:prstGeom prst="pentagon">
            <a:avLst/>
          </a:prstGeom>
          <a:solidFill>
            <a:srgbClr val="6C4DF6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management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and run campaigns end to end — recruits, briefs, deliverables and status.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101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4152290"/>
            <a:ext cx="84491" cy="134417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499945" y="4094683"/>
            <a:ext cx="84491" cy="249631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9" name="Shape 27"/>
          <p:cNvSpPr/>
          <p:nvPr/>
        </p:nvSpPr>
        <p:spPr>
          <a:xfrm>
            <a:off x="4640123" y="4017874"/>
            <a:ext cx="84491" cy="403250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 analytics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4564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performance across creators and campaigns — reach, engagement, outcomes.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533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04888" y="3998671"/>
            <a:ext cx="384048" cy="238110"/>
          </a:xfrm>
          <a:prstGeom prst="roundRect">
            <a:avLst>
              <a:gd name="adj" fmla="val 11521"/>
            </a:avLst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35317" y="4027475"/>
            <a:ext cx="84491" cy="84491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35" name="Text 33"/>
          <p:cNvSpPr/>
          <p:nvPr/>
        </p:nvSpPr>
        <p:spPr>
          <a:xfrm>
            <a:off x="61630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 management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1996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Collect, review and organise the content creators deliver against each campaign.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796528" y="36576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48088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8906256" y="440740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payouts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942832" y="47365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budgets, spend and creator payments so finance and marketing stay in sync.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Data Is Sourced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Free-first. We only pay when we’re blocked.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783080"/>
            <a:ext cx="5358384" cy="82296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PATH · 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258568"/>
            <a:ext cx="4809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crawler + cookie pool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59536" y="275234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EB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275234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₹0 / profile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3447288"/>
            <a:ext cx="4773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profile data pulled through our own relay crawler.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rotating pool of real accounts and cookies.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marginal cost whenever it works.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engagement &amp; ranking math as the fallback.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221641"/>
          </a:solidFill>
          <a:ln w="15875">
            <a:solidFill>
              <a:srgbClr val="2216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783080"/>
            <a:ext cx="5358384" cy="82296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BCF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FALLBACK · PAY-PER-USE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28816" y="2258568"/>
            <a:ext cx="4809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Apify scraper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28816" y="275234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6C4D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28816" y="2752344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~a few ¢ / profile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447288"/>
            <a:ext cx="47731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 only on a block — 401 / 403 / rate-limit.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Billed per profile: no block, no bill.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scales with blocks, not with how much we search.</a:t>
            </a:r>
            <a:endParaRPr lang="en-US" sz="1250" dirty="0"/>
          </a:p>
          <a:p>
            <a:pPr marL="203200" indent="-2032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8E3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Invisible to the user — same ranked result either way.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crawler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86684" y="512064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D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3298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Blocked?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52744" y="512064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D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9904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Apify (pay-per-use)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18804" y="5120640"/>
            <a:ext cx="292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D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65108" y="5120640"/>
            <a:ext cx="27660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ranked result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Logins, One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system, three doors — each with its own login and view.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057400"/>
            <a:ext cx="457200" cy="457200"/>
          </a:xfrm>
          <a:prstGeom prst="cube">
            <a:avLst/>
          </a:prstGeom>
          <a:solidFill>
            <a:srgbClr val="6C4DF6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2039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 / AGENCY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marketing team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" y="310896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Email-and-password login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discovery, outreach &amp; campaign toolset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Plain-English search to shortlist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4256" y="178308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2057400"/>
            <a:ext cx="457200" cy="457200"/>
          </a:xfrm>
          <a:prstGeom prst="heart">
            <a:avLst/>
          </a:prstGeom>
          <a:solidFill>
            <a:srgbClr val="6C4DF6"/>
          </a:solidFill>
          <a:ln/>
        </p:spPr>
      </p:sp>
      <p:sp>
        <p:nvSpPr>
          <p:cNvPr id="14" name="Text 12"/>
          <p:cNvSpPr/>
          <p:nvPr/>
        </p:nvSpPr>
        <p:spPr>
          <a:xfrm>
            <a:off x="5248656" y="2039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/ CREATOR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54296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creators themselves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54296" y="310896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Passwordless — connect Instagram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Their own portal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prediction (about to build)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783080"/>
            <a:ext cx="3529584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75904" y="2057400"/>
            <a:ext cx="457200" cy="457200"/>
          </a:xfrm>
          <a:prstGeom prst="gear6">
            <a:avLst/>
          </a:prstGeom>
          <a:solidFill>
            <a:srgbClr val="6C4DF6"/>
          </a:solidFill>
          <a:ln/>
        </p:spPr>
      </p:sp>
      <p:sp>
        <p:nvSpPr>
          <p:cNvPr id="19" name="Text 17"/>
          <p:cNvSpPr/>
          <p:nvPr/>
        </p:nvSpPr>
        <p:spPr>
          <a:xfrm>
            <a:off x="9015984" y="2039112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 ADMIN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21624" y="265176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21624" y="3108960"/>
            <a:ext cx="29809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 control panel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data pipelines &amp; accounts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Coverage, campaigns &amp; analytics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solidFill>
            <a:srgbClr val="ECE7FB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engine, three tailored surfaces.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Super Admin Control Panel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cockpit behind the product — seven screens.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2066544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9" name="Shape 7"/>
          <p:cNvSpPr/>
          <p:nvPr/>
        </p:nvSpPr>
        <p:spPr>
          <a:xfrm>
            <a:off x="1839316" y="2066544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10" name="Shape 8"/>
          <p:cNvSpPr/>
          <p:nvPr/>
        </p:nvSpPr>
        <p:spPr>
          <a:xfrm>
            <a:off x="1618488" y="2287372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11" name="Shape 9"/>
          <p:cNvSpPr/>
          <p:nvPr/>
        </p:nvSpPr>
        <p:spPr>
          <a:xfrm>
            <a:off x="1839316" y="2287372"/>
            <a:ext cx="161300" cy="161300"/>
          </a:xfrm>
          <a:prstGeom prst="roundRect">
            <a:avLst>
              <a:gd name="adj" fmla="val 17007"/>
            </a:avLst>
          </a:prstGeom>
          <a:solidFill>
            <a:srgbClr val="6C4DF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 size, 24h scrapes, agency searches, accounts in rotation, job-queue depth.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1688" y="2066544"/>
            <a:ext cx="384048" cy="384048"/>
          </a:xfrm>
          <a:prstGeom prst="gear6">
            <a:avLst/>
          </a:prstGeom>
          <a:solidFill>
            <a:srgbClr val="6C4D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198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Scraper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564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Recent scrapes, account health &amp; cooling, pipeline status (healthy / rate-limited / cookie-dead).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2277770"/>
            <a:ext cx="84491" cy="134417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3145" y="2220163"/>
            <a:ext cx="84491" cy="249631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83323" y="2143354"/>
            <a:ext cx="84491" cy="403250"/>
          </a:xfrm>
          <a:prstGeom prst="rect">
            <a:avLst/>
          </a:prstGeom>
          <a:solidFill>
            <a:srgbClr val="6C4DF6"/>
          </a:solidFill>
          <a:ln/>
        </p:spPr>
      </p:sp>
      <p:sp>
        <p:nvSpPr>
          <p:cNvPr id="22" name="Text 20"/>
          <p:cNvSpPr/>
          <p:nvPr/>
        </p:nvSpPr>
        <p:spPr>
          <a:xfrm>
            <a:off x="61630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Metrics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996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Worker heartbeat, crawl queue, throughput, 7-day search trends, DAU, creator growth.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96528" y="178308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8088" y="2066544"/>
            <a:ext cx="384048" cy="384048"/>
          </a:xfrm>
          <a:prstGeom prst="hex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06256" y="253288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Coverage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42832" y="286207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niche × city heat-map of where the database is strong and where it’s thin.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385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0088" y="4078224"/>
            <a:ext cx="384048" cy="384048"/>
          </a:xfrm>
          <a:prstGeom prst="pentagon">
            <a:avLst/>
          </a:prstGeom>
          <a:solidFill>
            <a:srgbClr val="6C4DF6"/>
          </a:solidFill>
          <a:ln/>
        </p:spPr>
      </p:sp>
      <p:sp>
        <p:nvSpPr>
          <p:cNvPr id="30" name="Text 28"/>
          <p:cNvSpPr/>
          <p:nvPr/>
        </p:nvSpPr>
        <p:spPr>
          <a:xfrm>
            <a:off x="20482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Campaigns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0848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Per-brand oversight — recruits, budget, spend and performance across the platform.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33288" y="4078224"/>
            <a:ext cx="384048" cy="384048"/>
          </a:xfrm>
          <a:prstGeom prst="pie">
            <a:avLst>
              <a:gd name="adj1" fmla="val 16200000"/>
              <a:gd name="adj2" fmla="val 12000000"/>
            </a:avLst>
          </a:prstGeom>
          <a:solidFill>
            <a:srgbClr val="6C4D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280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System-wide KPIs, including prediction accuracy as the creator portal comes online.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24928" y="379476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6488" y="4135831"/>
            <a:ext cx="192024" cy="192024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38" name="Shape 36"/>
          <p:cNvSpPr/>
          <p:nvPr/>
        </p:nvSpPr>
        <p:spPr>
          <a:xfrm>
            <a:off x="8678113" y="4174236"/>
            <a:ext cx="192024" cy="192024"/>
          </a:xfrm>
          <a:prstGeom prst="ellipse">
            <a:avLst/>
          </a:prstGeom>
          <a:solidFill>
            <a:srgbClr val="6C4DF6"/>
          </a:solidFill>
          <a:ln/>
        </p:spPr>
      </p:sp>
      <p:sp>
        <p:nvSpPr>
          <p:cNvPr id="39" name="Text 37"/>
          <p:cNvSpPr/>
          <p:nvPr/>
        </p:nvSpPr>
        <p:spPr>
          <a:xfrm>
            <a:off x="7534656" y="454456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571232" y="487375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brand-side audit — signups, logins and account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 vs. Impact.com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Impact.com is a strong global partner-network platform — built for US brands, not for how India discovers creators. That gap is our opening.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Capability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D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Impact.com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D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Influencer Intel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D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India creator depth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 / global-first; thin India coverage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India-first; vernacular, regional &amp; festival creators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How you search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Filters, forms &amp; vetted marketplace lists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Plain-English brief — the AI reads intent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freshness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Marketplace + partner-reported metrics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Live public-profile snapshots on demand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Campaign fit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Generic tags and categories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Campaign mode: proven-collaborator, festival-aware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asset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Static partner network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Self-growing database — every search enriches it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Setup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357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Contracts, enrolment, integration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1641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Type a brief, get creators in seconds</a:t>
                      </a:r>
                      <a:endParaRPr lang="en-US" sz="11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Impact.com is where a global brand runs a formal partner program. Influencer Intel is where an Indian brand finds the right creator for a specific campaign — faster, live, and deep in exactly the market Impact under-serves.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About to Build: The Influencer Portal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next build opens the other side of the market.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the platform serves brands. Next it opens to creators: an influencer connects their account and the platform predicts how their next reel or post will perform — before they publish it.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8488" y="2660904"/>
            <a:ext cx="384048" cy="384048"/>
          </a:xfrm>
          <a:prstGeom prst="donut">
            <a:avLst/>
          </a:prstGeom>
          <a:solidFill>
            <a:srgbClr val="6C4DF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prediction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Forecast reach and engagement for a planned reel or post — post what will land.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2660904"/>
            <a:ext cx="384048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6C4D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756916"/>
            <a:ext cx="0" cy="96012"/>
          </a:xfrm>
          <a:prstGeom prst="line">
            <a:avLst/>
          </a:prstGeom>
          <a:noFill/>
          <a:ln w="25400">
            <a:solidFill>
              <a:srgbClr val="6C4D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2852928"/>
            <a:ext cx="96012" cy="0"/>
          </a:xfrm>
          <a:prstGeom prst="line">
            <a:avLst/>
          </a:prstGeom>
          <a:noFill/>
          <a:ln w="25400">
            <a:solidFill>
              <a:srgbClr val="6C4D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Best-time &amp; format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564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to post and which format is likely to perform for their specific audience.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2660904"/>
            <a:ext cx="230429" cy="384048"/>
          </a:xfrm>
          <a:prstGeom prst="chevron">
            <a:avLst/>
          </a:prstGeom>
          <a:solidFill>
            <a:srgbClr val="6C4D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77710" y="2660904"/>
            <a:ext cx="230429" cy="384048"/>
          </a:xfrm>
          <a:prstGeom prst="chevron">
            <a:avLst/>
          </a:prstGeom>
          <a:solidFill>
            <a:srgbClr val="8B6DF5"/>
          </a:solidFill>
          <a:ln/>
        </p:spPr>
      </p:sp>
      <p:sp>
        <p:nvSpPr>
          <p:cNvPr id="21" name="Text 19"/>
          <p:cNvSpPr/>
          <p:nvPr/>
        </p:nvSpPr>
        <p:spPr>
          <a:xfrm>
            <a:off x="61630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Brand-fit signals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1996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brands and campaigns they match — feeding back into brand-side discovery.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96528" y="2377440"/>
            <a:ext cx="24871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1DA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05695" y="2660904"/>
            <a:ext cx="268834" cy="384048"/>
          </a:xfrm>
          <a:prstGeom prst="upArrow">
            <a:avLst/>
          </a:prstGeom>
          <a:solidFill>
            <a:srgbClr val="6C4DF6"/>
          </a:solidFill>
          <a:ln/>
        </p:spPr>
      </p:sp>
      <p:sp>
        <p:nvSpPr>
          <p:cNvPr id="25" name="Text 23"/>
          <p:cNvSpPr/>
          <p:nvPr/>
        </p:nvSpPr>
        <p:spPr>
          <a:xfrm>
            <a:off x="8906256" y="3127248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tracking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42832" y="3456432"/>
            <a:ext cx="219456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running view of what’s working, so creators see the effect of the guidance.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892040"/>
            <a:ext cx="11064240" cy="777240"/>
          </a:xfrm>
          <a:prstGeom prst="rect">
            <a:avLst/>
          </a:prstGeom>
          <a:solidFill>
            <a:srgbClr val="ECE7FB">
              <a:alpha val="7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moment creators log in for predictions, they hand us first-party performance data no scraper can get — turning a discovery tool into a two-sided network.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ECE7F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310896"/>
            <a:ext cx="457200" cy="420624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28" y="411480"/>
            <a:ext cx="237744" cy="219456"/>
          </a:xfrm>
          <a:prstGeom prst="heart">
            <a:avLst/>
          </a:prstGeom>
          <a:solidFill>
            <a:srgbClr val="FFFFFF">
              <a:alpha val="0"/>
            </a:srgbClr>
          </a:solidFill>
          <a:ln w="19050">
            <a:solidFill>
              <a:srgbClr val="2216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This Goes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9456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383280"/>
            <a:ext cx="2889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working, India-first discovery engine brands can use now.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192024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19456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54296" y="28803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383280"/>
            <a:ext cx="2889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 portal with performance prediction — a two-sided network with a proprietary data flywheel.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958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E1DA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219456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6C4D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21624" y="2880360"/>
            <a:ext cx="2980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Moat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1624" y="3383280"/>
            <a:ext cx="2889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search and every creator login makes the data — and the predictions — better. That advantage compounds and is hard to copy.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84A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more it’s used, the more defensible it becomes.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-1463040" y="-457200"/>
            <a:ext cx="475488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320000">
            <a:off x="-1645920" y="91440"/>
            <a:ext cx="493776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8778240" y="60350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8B6DF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320000">
            <a:off x="8595360" y="6583680"/>
            <a:ext cx="5120640" cy="292608"/>
          </a:xfrm>
          <a:prstGeom prst="roundRect">
            <a:avLst>
              <a:gd name="adj" fmla="val 78125"/>
            </a:avLst>
          </a:prstGeom>
          <a:solidFill>
            <a:srgbClr val="C9BCF9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2331720"/>
            <a:ext cx="548640" cy="512064"/>
          </a:xfrm>
          <a:prstGeom prst="heart">
            <a:avLst/>
          </a:prstGeom>
          <a:solidFill>
            <a:srgbClr val="FFFFFF">
              <a:alpha val="0"/>
            </a:srgbClr>
          </a:solidFill>
          <a:ln w="31750">
            <a:solidFill>
              <a:srgbClr val="2216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57216" y="2450592"/>
            <a:ext cx="292608" cy="274320"/>
          </a:xfrm>
          <a:prstGeom prst="heart">
            <a:avLst/>
          </a:prstGeom>
          <a:solidFill>
            <a:srgbClr val="FFFFFF">
              <a:alpha val="0"/>
            </a:srgbClr>
          </a:solidFill>
          <a:ln w="25400">
            <a:solidFill>
              <a:srgbClr val="2216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16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 Intel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566160" y="3291840"/>
            <a:ext cx="5056632" cy="0"/>
          </a:xfrm>
          <a:prstGeom prst="line">
            <a:avLst/>
          </a:prstGeom>
          <a:noFill/>
          <a:ln w="19050">
            <a:solidFill>
              <a:srgbClr val="8B6D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3768" y="3794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76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India-first influencer discovery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9928" y="3794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992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Live, ranked, AI-native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088" y="379476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C9B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6088" y="3794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3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Prepared for leadership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Influencer Intel — Executive Presentation</dc:title>
  <dc:subject>PptxGenJS Presentation</dc:subject>
  <dc:creator>Influencer Intel</dc:creator>
  <cp:lastModifiedBy>Influencer Intel</cp:lastModifiedBy>
  <cp:revision>1</cp:revision>
  <dcterms:created xsi:type="dcterms:W3CDTF">2026-08-01T19:23:10Z</dcterms:created>
  <dcterms:modified xsi:type="dcterms:W3CDTF">2026-08-01T19:23:10Z</dcterms:modified>
</cp:coreProperties>
</file>