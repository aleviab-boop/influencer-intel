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E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320000">
            <a:off x="-1463040" y="-457200"/>
            <a:ext cx="4754880" cy="457200"/>
          </a:xfrm>
          <a:prstGeom prst="roundRect">
            <a:avLst>
              <a:gd name="adj" fmla="val 50000"/>
            </a:avLst>
          </a:prstGeom>
          <a:solidFill>
            <a:srgbClr val="8B6DF5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1320000">
            <a:off x="-1645920" y="91440"/>
            <a:ext cx="4937760" cy="292608"/>
          </a:xfrm>
          <a:prstGeom prst="roundRect">
            <a:avLst>
              <a:gd name="adj" fmla="val 78125"/>
            </a:avLst>
          </a:prstGeom>
          <a:solidFill>
            <a:srgbClr val="C9BCF9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1320000">
            <a:off x="8778240" y="603504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8B6DF5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-1320000">
            <a:off x="8595360" y="6583680"/>
            <a:ext cx="5120640" cy="292608"/>
          </a:xfrm>
          <a:prstGeom prst="roundRect">
            <a:avLst>
              <a:gd name="adj" fmla="val 78125"/>
            </a:avLst>
          </a:prstGeom>
          <a:solidFill>
            <a:srgbClr val="C9BCF9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160520" y="2395728"/>
            <a:ext cx="566928" cy="530352"/>
          </a:xfrm>
          <a:prstGeom prst="heart">
            <a:avLst/>
          </a:prstGeom>
          <a:solidFill>
            <a:srgbClr val="FFFFFF">
              <a:alpha val="0"/>
            </a:srgbClr>
          </a:solidFill>
          <a:ln w="31750">
            <a:solidFill>
              <a:srgbClr val="2216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0" y="2523744"/>
            <a:ext cx="292608" cy="274320"/>
          </a:xfrm>
          <a:prstGeom prst="heart">
            <a:avLst/>
          </a:prstGeom>
          <a:solidFill>
            <a:srgbClr val="FFFFFF">
              <a:alpha val="0"/>
            </a:srgbClr>
          </a:solidFill>
          <a:ln w="25400">
            <a:solidFill>
              <a:srgbClr val="2216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22860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Influencer Intel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3566160" y="3310128"/>
            <a:ext cx="5056632" cy="0"/>
          </a:xfrm>
          <a:prstGeom prst="line">
            <a:avLst/>
          </a:prstGeom>
          <a:noFill/>
          <a:ln w="19050">
            <a:solidFill>
              <a:srgbClr val="8B6D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3246120"/>
            <a:ext cx="128016" cy="128016"/>
          </a:xfrm>
          <a:prstGeom prst="diamond">
            <a:avLst/>
          </a:prstGeom>
          <a:solidFill>
            <a:srgbClr val="8B6DF5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456432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India-First Influencer Discovery, Built AI-Native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4041648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August 2026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474720" y="6199632"/>
            <a:ext cx="523951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BC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6199632"/>
            <a:ext cx="5239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Proprietary &amp; Confidential  |  Prepared for leadership &amp; investment review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ECE7FB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310896"/>
            <a:ext cx="457200" cy="420624"/>
          </a:xfrm>
          <a:prstGeom prst="heart">
            <a:avLst/>
          </a:prstGeom>
          <a:solidFill>
            <a:srgbClr val="FFFFFF">
              <a:alpha val="0"/>
            </a:srgbClr>
          </a:solidFill>
          <a:ln w="25400">
            <a:solidFill>
              <a:srgbClr val="2216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411480"/>
            <a:ext cx="237744" cy="219456"/>
          </a:xfrm>
          <a:prstGeom prst="heart">
            <a:avLst/>
          </a:prstGeom>
          <a:solidFill>
            <a:srgbClr val="FFFFFF">
              <a:alpha val="0"/>
            </a:srgbClr>
          </a:solidFill>
          <a:ln w="19050">
            <a:solidFill>
              <a:srgbClr val="2216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Executive Summary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55448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4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Influencer Intel is a search engine for creators. You type in plain English — a full campaign brief or a quick everyday prompt — and get back ranked, real influencers with live profile data, ready to reach out to. No filters to fight, no lists to buy.</a:t>
            </a:r>
            <a:endParaRPr lang="en-US" sz="1450" dirty="0"/>
          </a:p>
          <a:p>
            <a:pPr algn="l" indent="0" marL="0">
              <a:lnSpc>
                <a:spcPct val="114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exists because influencer marketing in India runs on gut feel, WhatsApp forwards and agency spreadsheets. Influencer Intel replaces that with an AI-native discovery engine tuned for India — regional languages, festival campaigns, and the long tail of creators global tools don’t index.</a:t>
            </a:r>
            <a:endParaRPr lang="en-US" sz="1450" dirty="0"/>
          </a:p>
          <a:p>
            <a:pPr algn="l" indent="0" marL="0">
              <a:lnSpc>
                <a:spcPct val="114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it compounds. Every search is stored and re-ranked, so the underlying database grows on its own with each brief a user runs. The more it’s used, the more defensible it becomes.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ECE7FB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310896"/>
            <a:ext cx="457200" cy="420624"/>
          </a:xfrm>
          <a:prstGeom prst="heart">
            <a:avLst/>
          </a:prstGeom>
          <a:solidFill>
            <a:srgbClr val="FFFFFF">
              <a:alpha val="0"/>
            </a:srgbClr>
          </a:solidFill>
          <a:ln w="25400">
            <a:solidFill>
              <a:srgbClr val="2216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411480"/>
            <a:ext cx="237744" cy="219456"/>
          </a:xfrm>
          <a:prstGeom prst="heart">
            <a:avLst/>
          </a:prstGeom>
          <a:solidFill>
            <a:srgbClr val="FFFFFF">
              <a:alpha val="0"/>
            </a:srgbClr>
          </a:solidFill>
          <a:ln w="19050">
            <a:solidFill>
              <a:srgbClr val="2216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is Influencer Intel?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2487168" cy="265176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5298" y="2386584"/>
            <a:ext cx="230429" cy="384048"/>
          </a:xfrm>
          <a:prstGeom prst="lightningBolt">
            <a:avLst/>
          </a:prstGeom>
          <a:solidFill>
            <a:srgbClr val="6C4DF6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285292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Seconds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3232" y="3182112"/>
            <a:ext cx="219456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plain-English brief becomes a ranked shortlist — not hours of manual sourcing.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10128" y="2103120"/>
            <a:ext cx="2487168" cy="265176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61688" y="2444191"/>
            <a:ext cx="384048" cy="130576"/>
          </a:xfrm>
          <a:prstGeom prst="roundRect">
            <a:avLst>
              <a:gd name="adj" fmla="val 21008"/>
            </a:avLst>
          </a:prstGeom>
          <a:solidFill>
            <a:srgbClr val="6C4D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361688" y="2569007"/>
            <a:ext cx="384048" cy="130576"/>
          </a:xfrm>
          <a:prstGeom prst="roundRect">
            <a:avLst>
              <a:gd name="adj" fmla="val 21008"/>
            </a:avLst>
          </a:prstGeom>
          <a:solidFill>
            <a:srgbClr val="6C4DF6"/>
          </a:solidFill>
          <a:ln/>
        </p:spPr>
      </p:sp>
      <p:sp>
        <p:nvSpPr>
          <p:cNvPr id="13" name="Shape 11"/>
          <p:cNvSpPr/>
          <p:nvPr/>
        </p:nvSpPr>
        <p:spPr>
          <a:xfrm>
            <a:off x="4361688" y="2693822"/>
            <a:ext cx="384048" cy="130576"/>
          </a:xfrm>
          <a:prstGeom prst="roundRect">
            <a:avLst>
              <a:gd name="adj" fmla="val 21008"/>
            </a:avLst>
          </a:prstGeom>
          <a:solidFill>
            <a:srgbClr val="6C4DF6"/>
          </a:solidFill>
          <a:ln/>
        </p:spPr>
      </p:sp>
      <p:sp>
        <p:nvSpPr>
          <p:cNvPr id="14" name="Text 12"/>
          <p:cNvSpPr/>
          <p:nvPr/>
        </p:nvSpPr>
        <p:spPr>
          <a:xfrm>
            <a:off x="3419856" y="285292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Engines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456432" y="3182112"/>
            <a:ext cx="219456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web search, a live public-profile crawl and the internal database run in parallel.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53328" y="2103120"/>
            <a:ext cx="2487168" cy="265176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8100000">
            <a:off x="7104888" y="2386584"/>
            <a:ext cx="384048" cy="384048"/>
          </a:xfrm>
          <a:prstGeom prst="teardrop">
            <a:avLst/>
          </a:prstGeom>
          <a:solidFill>
            <a:srgbClr val="6C4DF6"/>
          </a:solidFill>
          <a:ln/>
        </p:spPr>
      </p:sp>
      <p:sp>
        <p:nvSpPr>
          <p:cNvPr id="18" name="Text 16"/>
          <p:cNvSpPr/>
          <p:nvPr/>
        </p:nvSpPr>
        <p:spPr>
          <a:xfrm>
            <a:off x="6163056" y="285292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India-First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199632" y="3182112"/>
            <a:ext cx="219456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Vernacular, regional and festival-aware — tuned for how India actually discovers creators.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796528" y="2103120"/>
            <a:ext cx="2487168" cy="265176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05695" y="2386584"/>
            <a:ext cx="268834" cy="384048"/>
          </a:xfrm>
          <a:prstGeom prst="upArrow">
            <a:avLst/>
          </a:prstGeom>
          <a:solidFill>
            <a:srgbClr val="6C4DF6"/>
          </a:solidFill>
          <a:ln/>
        </p:spPr>
      </p:sp>
      <p:sp>
        <p:nvSpPr>
          <p:cNvPr id="22" name="Text 20"/>
          <p:cNvSpPr/>
          <p:nvPr/>
        </p:nvSpPr>
        <p:spPr>
          <a:xfrm>
            <a:off x="8906256" y="285292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Self-Growing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942832" y="3182112"/>
            <a:ext cx="219456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search enriches a private database, so the platform gets sharper the more it’s used.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" y="5074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Describe a campaign the way you’d brief a colleague — and get real creators back, ranked for India.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ECE7FB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310896"/>
            <a:ext cx="457200" cy="420624"/>
          </a:xfrm>
          <a:prstGeom prst="heart">
            <a:avLst/>
          </a:prstGeom>
          <a:solidFill>
            <a:srgbClr val="FFFFFF">
              <a:alpha val="0"/>
            </a:srgbClr>
          </a:solidFill>
          <a:ln w="25400">
            <a:solidFill>
              <a:srgbClr val="2216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411480"/>
            <a:ext cx="237744" cy="219456"/>
          </a:xfrm>
          <a:prstGeom prst="heart">
            <a:avLst/>
          </a:prstGeom>
          <a:solidFill>
            <a:srgbClr val="FFFFFF">
              <a:alpha val="0"/>
            </a:srgbClr>
          </a:solidFill>
          <a:ln w="19050">
            <a:solidFill>
              <a:srgbClr val="2216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 Matters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82880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i="1" dirty="0">
                <a:solidFill>
                  <a:srgbClr val="5550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“Discovery in India</a:t>
            </a:r>
            <a:endParaRPr lang="en-US" sz="3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000" b="1" i="1" dirty="0">
                <a:solidFill>
                  <a:srgbClr val="5550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 still done</a:t>
            </a:r>
            <a:endParaRPr lang="en-US" sz="3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000" b="1" i="1" dirty="0">
                <a:solidFill>
                  <a:srgbClr val="5550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by hand.”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85216" y="37947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booming creator market is being sourced from spreadsheets, WhatsApp forwards and whoever the agency already knows.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5216" y="5074920"/>
            <a:ext cx="4206240" cy="0"/>
          </a:xfrm>
          <a:prstGeom prst="line">
            <a:avLst/>
          </a:prstGeom>
          <a:noFill/>
          <a:ln w="19050">
            <a:solidFill>
              <a:srgbClr val="8B6D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51389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opportunity is structural, not incremental.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60720" y="1828800"/>
            <a:ext cx="585216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883664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i="1" dirty="0">
                <a:solidFill>
                  <a:srgbClr val="6C4D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995160" y="1883664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Creator spend in India is scaling fast — but discovery stays manual, slow and biased.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760720" y="2944368"/>
            <a:ext cx="585216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299923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i="1" dirty="0">
                <a:solidFill>
                  <a:srgbClr val="6C4D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995160" y="2999232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Global tools are US-first; vernacular, regional and festival creators fall through the cracks.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760720" y="4059936"/>
            <a:ext cx="585216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41148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i="1" dirty="0">
                <a:solidFill>
                  <a:srgbClr val="6C4D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995160" y="411480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Bought lists can’t answer the one question that matters: who fits this campaign, right now?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760720" y="5175504"/>
            <a:ext cx="585216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523036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i="1" dirty="0">
                <a:solidFill>
                  <a:srgbClr val="6C4D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995160" y="5230368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answer in seconds — live data, ranked for India, sharper every time someone searches.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ECE7FB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310896"/>
            <a:ext cx="457200" cy="420624"/>
          </a:xfrm>
          <a:prstGeom prst="heart">
            <a:avLst/>
          </a:prstGeom>
          <a:solidFill>
            <a:srgbClr val="FFFFFF">
              <a:alpha val="0"/>
            </a:srgbClr>
          </a:solidFill>
          <a:ln w="25400">
            <a:solidFill>
              <a:srgbClr val="2216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411480"/>
            <a:ext cx="237744" cy="219456"/>
          </a:xfrm>
          <a:prstGeom prst="heart">
            <a:avLst/>
          </a:prstGeom>
          <a:solidFill>
            <a:srgbClr val="FFFFFF">
              <a:alpha val="0"/>
            </a:srgbClr>
          </a:solidFill>
          <a:ln w="19050">
            <a:solidFill>
              <a:srgbClr val="2216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Find &amp; Vet Creators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17043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working feature set, live today — not a roadmap.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18488" y="2066544"/>
            <a:ext cx="307238" cy="307238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6C4D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48917" y="2296973"/>
            <a:ext cx="134417" cy="134417"/>
          </a:xfrm>
          <a:prstGeom prst="line">
            <a:avLst/>
          </a:prstGeom>
          <a:noFill/>
          <a:ln w="31750">
            <a:solidFill>
              <a:srgbClr val="6C4D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253288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Influencer search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13232" y="286207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Type a brief or prompt in plain English; the AI reads intent and returns matching creators.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10128" y="178308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61688" y="2039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C4D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@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19856" y="253288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@handle lookup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456432" y="286207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Paste any handle for a full, live profile snapshot on demand — vet a creator instantly.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53328" y="178308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3692" y="2066544"/>
            <a:ext cx="326441" cy="384048"/>
          </a:xfrm>
          <a:prstGeom prst="can">
            <a:avLst/>
          </a:prstGeom>
          <a:solidFill>
            <a:srgbClr val="FFFFFF">
              <a:alpha val="0"/>
            </a:srgbClr>
          </a:solidFill>
          <a:ln w="28575">
            <a:solidFill>
              <a:srgbClr val="6C4D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63056" y="253288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Influencer database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199632" y="286207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private, self-growing library of every creator the platform has seen — searchable and yours.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796528" y="178308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5400000">
            <a:off x="9848088" y="2066544"/>
            <a:ext cx="384048" cy="384048"/>
          </a:xfrm>
          <a:prstGeom prst="hexagon">
            <a:avLst/>
          </a:prstGeom>
          <a:solidFill>
            <a:srgbClr val="6C4DF6"/>
          </a:solidFill>
          <a:ln/>
        </p:spPr>
      </p:sp>
      <p:sp>
        <p:nvSpPr>
          <p:cNvPr id="22" name="Text 20"/>
          <p:cNvSpPr/>
          <p:nvPr/>
        </p:nvSpPr>
        <p:spPr>
          <a:xfrm>
            <a:off x="8906256" y="253288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Authenticity score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942832" y="286207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fake-follower check that flags bought audiences before you spend on them.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938528" y="379476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0088" y="4078224"/>
            <a:ext cx="384048" cy="384048"/>
          </a:xfrm>
          <a:prstGeom prst="pie">
            <a:avLst>
              <a:gd name="adj1" fmla="val 10800000"/>
              <a:gd name="adj2" fmla="val 20400000"/>
            </a:avLst>
          </a:prstGeom>
          <a:solidFill>
            <a:srgbClr val="6C4DF6"/>
          </a:solidFill>
          <a:ln/>
        </p:spPr>
      </p:sp>
      <p:sp>
        <p:nvSpPr>
          <p:cNvPr id="26" name="Text 24"/>
          <p:cNvSpPr/>
          <p:nvPr/>
        </p:nvSpPr>
        <p:spPr>
          <a:xfrm>
            <a:off x="2048256" y="454456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Engagement rate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084832" y="487375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Instant ER for any creator, so shortlists rank on real reach, not follower vanity.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81728" y="379476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33288" y="4078224"/>
            <a:ext cx="230429" cy="384048"/>
          </a:xfrm>
          <a:prstGeom prst="chevron">
            <a:avLst/>
          </a:prstGeom>
          <a:solidFill>
            <a:srgbClr val="6C4DF6"/>
          </a:solidFill>
          <a:ln/>
        </p:spPr>
      </p:sp>
      <p:sp>
        <p:nvSpPr>
          <p:cNvPr id="30" name="Shape 28"/>
          <p:cNvSpPr/>
          <p:nvPr/>
        </p:nvSpPr>
        <p:spPr>
          <a:xfrm>
            <a:off x="5906110" y="4078224"/>
            <a:ext cx="230429" cy="384048"/>
          </a:xfrm>
          <a:prstGeom prst="chevron">
            <a:avLst/>
          </a:prstGeom>
          <a:solidFill>
            <a:srgbClr val="8B6DF5"/>
          </a:solidFill>
          <a:ln/>
        </p:spPr>
      </p:sp>
      <p:sp>
        <p:nvSpPr>
          <p:cNvPr id="31" name="Text 29"/>
          <p:cNvSpPr/>
          <p:nvPr/>
        </p:nvSpPr>
        <p:spPr>
          <a:xfrm>
            <a:off x="4791456" y="454456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Competitor collabs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828032" y="487375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See which creators rival brands already work with — mine their rosters for talent.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424928" y="379476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76488" y="4078224"/>
            <a:ext cx="384048" cy="384048"/>
          </a:xfrm>
          <a:prstGeom prst="star5">
            <a:avLst/>
          </a:prstGeom>
          <a:solidFill>
            <a:srgbClr val="6C4DF6"/>
          </a:solidFill>
          <a:ln/>
        </p:spPr>
      </p:sp>
      <p:sp>
        <p:nvSpPr>
          <p:cNvPr id="35" name="Text 33"/>
          <p:cNvSpPr/>
          <p:nvPr/>
        </p:nvSpPr>
        <p:spPr>
          <a:xfrm>
            <a:off x="7534656" y="454456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Saved creators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7571232" y="487375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Shortlist and organise creators into lists for a team, a client or a campaign.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ECE7FB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310896"/>
            <a:ext cx="457200" cy="420624"/>
          </a:xfrm>
          <a:prstGeom prst="heart">
            <a:avLst/>
          </a:prstGeom>
          <a:solidFill>
            <a:srgbClr val="FFFFFF">
              <a:alpha val="0"/>
            </a:srgbClr>
          </a:solidFill>
          <a:ln w="25400">
            <a:solidFill>
              <a:srgbClr val="2216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411480"/>
            <a:ext cx="237744" cy="219456"/>
          </a:xfrm>
          <a:prstGeom prst="heart">
            <a:avLst/>
          </a:prstGeom>
          <a:solidFill>
            <a:srgbClr val="FFFFFF">
              <a:alpha val="0"/>
            </a:srgbClr>
          </a:solidFill>
          <a:ln w="19050">
            <a:solidFill>
              <a:srgbClr val="2216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Create, Reach Out &amp; Run Campaigns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18488" y="1837944"/>
            <a:ext cx="384048" cy="384048"/>
          </a:xfrm>
          <a:prstGeom prst="star4">
            <a:avLst/>
          </a:prstGeom>
          <a:solidFill>
            <a:srgbClr val="6C4DF6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230428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content generator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3232" y="263347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Campaign ideas, hooks and post concepts tailored to the brand and creator.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10128" y="155448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61688" y="1837944"/>
            <a:ext cx="384048" cy="314919"/>
          </a:xfrm>
          <a:prstGeom prst="wedgeRoundRectCallout">
            <a:avLst/>
          </a:prstGeom>
          <a:solidFill>
            <a:srgbClr val="6C4DF6"/>
          </a:solidFill>
          <a:ln/>
        </p:spPr>
      </p:sp>
      <p:sp>
        <p:nvSpPr>
          <p:cNvPr id="12" name="Text 10"/>
          <p:cNvSpPr/>
          <p:nvPr/>
        </p:nvSpPr>
        <p:spPr>
          <a:xfrm>
            <a:off x="3419856" y="230428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Reply assistant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456432" y="263347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Drafts and suggests replies, so outreach and negotiation stay fast and on-brand.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53328" y="155448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04888" y="1914754"/>
            <a:ext cx="384048" cy="230429"/>
          </a:xfrm>
          <a:prstGeom prst="rightArrow">
            <a:avLst/>
          </a:prstGeom>
          <a:solidFill>
            <a:srgbClr val="6C4DF6"/>
          </a:solidFill>
          <a:ln/>
        </p:spPr>
      </p:sp>
      <p:sp>
        <p:nvSpPr>
          <p:cNvPr id="16" name="Text 14"/>
          <p:cNvSpPr/>
          <p:nvPr/>
        </p:nvSpPr>
        <p:spPr>
          <a:xfrm>
            <a:off x="6163056" y="230428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Comment-to-DM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199632" y="263347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Turns post comments into direct-message conversations automatically, at scale.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796528" y="155448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96094" y="1837944"/>
            <a:ext cx="288036" cy="384048"/>
          </a:xfrm>
          <a:prstGeom prst="roundRect">
            <a:avLst>
              <a:gd name="adj" fmla="val 9524"/>
            </a:avLst>
          </a:prstGeom>
          <a:solidFill>
            <a:srgbClr val="6C4DF6"/>
          </a:solidFill>
          <a:ln/>
        </p:spPr>
      </p:sp>
      <p:sp>
        <p:nvSpPr>
          <p:cNvPr id="20" name="Text 18"/>
          <p:cNvSpPr/>
          <p:nvPr/>
        </p:nvSpPr>
        <p:spPr>
          <a:xfrm>
            <a:off x="8906256" y="230428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Outreach drafts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942832" y="263347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first-pass message per creator — shortlist to first contact without leaving the tool.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365760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18488" y="3941064"/>
            <a:ext cx="384048" cy="384048"/>
          </a:xfrm>
          <a:prstGeom prst="pentagon">
            <a:avLst/>
          </a:prstGeom>
          <a:solidFill>
            <a:srgbClr val="6C4DF6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" y="440740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Campaign management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13232" y="473659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 and run campaigns end to end — recruits, briefs, deliverables and status.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10128" y="365760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61688" y="4152290"/>
            <a:ext cx="84491" cy="134417"/>
          </a:xfrm>
          <a:prstGeom prst="rect">
            <a:avLst/>
          </a:prstGeom>
          <a:solidFill>
            <a:srgbClr val="6C4DF6"/>
          </a:solidFill>
          <a:ln/>
        </p:spPr>
      </p:sp>
      <p:sp>
        <p:nvSpPr>
          <p:cNvPr id="28" name="Shape 26"/>
          <p:cNvSpPr/>
          <p:nvPr/>
        </p:nvSpPr>
        <p:spPr>
          <a:xfrm>
            <a:off x="4499945" y="4094683"/>
            <a:ext cx="84491" cy="249631"/>
          </a:xfrm>
          <a:prstGeom prst="rect">
            <a:avLst/>
          </a:prstGeom>
          <a:solidFill>
            <a:srgbClr val="6C4DF6"/>
          </a:solidFill>
          <a:ln/>
        </p:spPr>
      </p:sp>
      <p:sp>
        <p:nvSpPr>
          <p:cNvPr id="29" name="Shape 27"/>
          <p:cNvSpPr/>
          <p:nvPr/>
        </p:nvSpPr>
        <p:spPr>
          <a:xfrm>
            <a:off x="4640123" y="4017874"/>
            <a:ext cx="84491" cy="403250"/>
          </a:xfrm>
          <a:prstGeom prst="rect">
            <a:avLst/>
          </a:prstGeom>
          <a:solidFill>
            <a:srgbClr val="6C4DF6"/>
          </a:solidFill>
          <a:ln/>
        </p:spPr>
      </p:sp>
      <p:sp>
        <p:nvSpPr>
          <p:cNvPr id="30" name="Text 28"/>
          <p:cNvSpPr/>
          <p:nvPr/>
        </p:nvSpPr>
        <p:spPr>
          <a:xfrm>
            <a:off x="3419856" y="440740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Campaign analytics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3456432" y="473659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Track performance across creators and campaigns — reach, engagement, outcomes.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53328" y="365760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04888" y="3998671"/>
            <a:ext cx="384048" cy="238110"/>
          </a:xfrm>
          <a:prstGeom prst="roundRect">
            <a:avLst>
              <a:gd name="adj" fmla="val 11521"/>
            </a:avLst>
          </a:prstGeom>
          <a:solidFill>
            <a:srgbClr val="FFFFFF">
              <a:alpha val="0"/>
            </a:srgbClr>
          </a:solidFill>
          <a:ln w="28575">
            <a:solidFill>
              <a:srgbClr val="6C4D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35317" y="4027475"/>
            <a:ext cx="84491" cy="84491"/>
          </a:xfrm>
          <a:prstGeom prst="ellipse">
            <a:avLst/>
          </a:prstGeom>
          <a:solidFill>
            <a:srgbClr val="6C4DF6"/>
          </a:solidFill>
          <a:ln/>
        </p:spPr>
      </p:sp>
      <p:sp>
        <p:nvSpPr>
          <p:cNvPr id="35" name="Text 33"/>
          <p:cNvSpPr/>
          <p:nvPr/>
        </p:nvSpPr>
        <p:spPr>
          <a:xfrm>
            <a:off x="6163056" y="440740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Media management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199632" y="473659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Collect, review and organise the content creators deliver against each campaign.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796528" y="365760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48088" y="3922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C4D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8906256" y="440740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Influencer payouts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8942832" y="473659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Track budgets, spend and creator payments so finance and marketing stay in sync.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ECE7FB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310896"/>
            <a:ext cx="457200" cy="420624"/>
          </a:xfrm>
          <a:prstGeom prst="heart">
            <a:avLst/>
          </a:prstGeom>
          <a:solidFill>
            <a:srgbClr val="FFFFFF">
              <a:alpha val="0"/>
            </a:srgbClr>
          </a:solidFill>
          <a:ln w="25400">
            <a:solidFill>
              <a:srgbClr val="2216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411480"/>
            <a:ext cx="237744" cy="219456"/>
          </a:xfrm>
          <a:prstGeom prst="heart">
            <a:avLst/>
          </a:prstGeom>
          <a:solidFill>
            <a:srgbClr val="FFFFFF">
              <a:alpha val="0"/>
            </a:srgbClr>
          </a:solidFill>
          <a:ln w="19050">
            <a:solidFill>
              <a:srgbClr val="2216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the Data Is Sourced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17043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Free-first. We only pay when we’re blocked.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53949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5875">
            <a:solidFill>
              <a:srgbClr val="E1DA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" y="1783080"/>
            <a:ext cx="5358384" cy="82296"/>
          </a:xfrm>
          <a:prstGeom prst="rect">
            <a:avLst/>
          </a:prstGeom>
          <a:solidFill>
            <a:srgbClr val="6C4DF6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200253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C4D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PRIMARY PATH · FREE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9536" y="2258568"/>
            <a:ext cx="4809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 crawler + cookie pool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59536" y="2752344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EBE6FD"/>
          </a:solidFill>
          <a:ln/>
        </p:spPr>
      </p:sp>
      <p:sp>
        <p:nvSpPr>
          <p:cNvPr id="12" name="Text 10"/>
          <p:cNvSpPr/>
          <p:nvPr/>
        </p:nvSpPr>
        <p:spPr>
          <a:xfrm>
            <a:off x="859536" y="2752344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₹0 / profile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77824" y="3447288"/>
            <a:ext cx="477316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 profile data pulled through our own relay crawler.</a:t>
            </a:r>
            <a:endParaRPr lang="en-US" sz="1250" dirty="0"/>
          </a:p>
          <a:p>
            <a:pPr marL="203200" indent="-2032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rotating pool of real accounts and cookies.</a:t>
            </a:r>
            <a:endParaRPr lang="en-US" sz="1250" dirty="0"/>
          </a:p>
          <a:p>
            <a:pPr marL="203200" indent="-2032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Zero marginal cost whenever it works.</a:t>
            </a:r>
            <a:endParaRPr lang="en-US" sz="1250" dirty="0"/>
          </a:p>
          <a:p>
            <a:pPr marL="203200" indent="-2032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same engagement &amp; ranking math as the fallback.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36208" y="1783080"/>
            <a:ext cx="5394960" cy="3063240"/>
          </a:xfrm>
          <a:prstGeom prst="roundRect">
            <a:avLst>
              <a:gd name="adj" fmla="val 2388"/>
            </a:avLst>
          </a:prstGeom>
          <a:solidFill>
            <a:srgbClr val="221641"/>
          </a:solidFill>
          <a:ln w="15875">
            <a:solidFill>
              <a:srgbClr val="22164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4496" y="1783080"/>
            <a:ext cx="5358384" cy="82296"/>
          </a:xfrm>
          <a:prstGeom prst="rect">
            <a:avLst/>
          </a:prstGeom>
          <a:solidFill>
            <a:srgbClr val="6C4DF6"/>
          </a:solidFill>
          <a:ln/>
        </p:spPr>
      </p:sp>
      <p:sp>
        <p:nvSpPr>
          <p:cNvPr id="16" name="Text 14"/>
          <p:cNvSpPr/>
          <p:nvPr/>
        </p:nvSpPr>
        <p:spPr>
          <a:xfrm>
            <a:off x="6528816" y="200253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BCF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FALLBACK · PAY-PER-USE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28816" y="2258568"/>
            <a:ext cx="4809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Apify scraper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528816" y="2752344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6C4DF6"/>
          </a:solidFill>
          <a:ln/>
        </p:spPr>
      </p:sp>
      <p:sp>
        <p:nvSpPr>
          <p:cNvPr id="19" name="Text 17"/>
          <p:cNvSpPr/>
          <p:nvPr/>
        </p:nvSpPr>
        <p:spPr>
          <a:xfrm>
            <a:off x="6528816" y="2752344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~a few ¢ / profile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47104" y="3447288"/>
            <a:ext cx="477316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8E3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Fires only on a block — 401 / 403 / rate-limit.</a:t>
            </a:r>
            <a:endParaRPr lang="en-US" sz="1250" dirty="0"/>
          </a:p>
          <a:p>
            <a:pPr marL="203200" indent="-2032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8E3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Billed per profile: no block, no bill.</a:t>
            </a:r>
            <a:endParaRPr lang="en-US" sz="1250" dirty="0"/>
          </a:p>
          <a:p>
            <a:pPr marL="203200" indent="-2032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8E3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Cost scales with blocks, not with how much we search.</a:t>
            </a:r>
            <a:endParaRPr lang="en-US" sz="1250" dirty="0"/>
          </a:p>
          <a:p>
            <a:pPr marL="203200" indent="-2032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8E3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Invisible to the user — same ranked result either way.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512064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5120640"/>
            <a:ext cx="27660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 crawler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186684" y="5120640"/>
            <a:ext cx="292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6D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332988" y="5120640"/>
            <a:ext cx="27660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Blocked?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952744" y="5120640"/>
            <a:ext cx="292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6D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099048" y="5120640"/>
            <a:ext cx="27660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Apify (pay-per-use)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718804" y="5120640"/>
            <a:ext cx="292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6D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865108" y="5120640"/>
            <a:ext cx="27660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D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Same ranked result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ECE7FB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310896"/>
            <a:ext cx="457200" cy="420624"/>
          </a:xfrm>
          <a:prstGeom prst="heart">
            <a:avLst/>
          </a:prstGeom>
          <a:solidFill>
            <a:srgbClr val="FFFFFF">
              <a:alpha val="0"/>
            </a:srgbClr>
          </a:solidFill>
          <a:ln w="25400">
            <a:solidFill>
              <a:srgbClr val="2216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411480"/>
            <a:ext cx="237744" cy="219456"/>
          </a:xfrm>
          <a:prstGeom prst="heart">
            <a:avLst/>
          </a:prstGeom>
          <a:solidFill>
            <a:srgbClr val="FFFFFF">
              <a:alpha val="0"/>
            </a:srgbClr>
          </a:solidFill>
          <a:ln w="19050">
            <a:solidFill>
              <a:srgbClr val="2216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 Logins, One Platform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17043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system, three doors — each with its own login and view.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3529584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E1DA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057400"/>
            <a:ext cx="457200" cy="457200"/>
          </a:xfrm>
          <a:prstGeom prst="cube">
            <a:avLst/>
          </a:prstGeom>
          <a:solidFill>
            <a:srgbClr val="6C4DF6"/>
          </a:solidFill>
          <a:ln/>
        </p:spPr>
      </p:sp>
      <p:sp>
        <p:nvSpPr>
          <p:cNvPr id="9" name="Text 7"/>
          <p:cNvSpPr/>
          <p:nvPr/>
        </p:nvSpPr>
        <p:spPr>
          <a:xfrm>
            <a:off x="1481328" y="2039112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4D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BRAND / AGENCY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86968" y="2651760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marketing team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86968" y="3108960"/>
            <a:ext cx="298094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Email-and-password login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discovery, outreach &amp; campaign toolset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Plain-English search to shortlist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34256" y="1783080"/>
            <a:ext cx="3529584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E1DA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8576" y="2057400"/>
            <a:ext cx="457200" cy="457200"/>
          </a:xfrm>
          <a:prstGeom prst="heart">
            <a:avLst/>
          </a:prstGeom>
          <a:solidFill>
            <a:srgbClr val="6C4DF6"/>
          </a:solidFill>
          <a:ln/>
        </p:spPr>
      </p:sp>
      <p:sp>
        <p:nvSpPr>
          <p:cNvPr id="14" name="Text 12"/>
          <p:cNvSpPr/>
          <p:nvPr/>
        </p:nvSpPr>
        <p:spPr>
          <a:xfrm>
            <a:off x="5248656" y="2039112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4D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INFLUENCER / CREATOR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54296" y="2651760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creators themselves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54296" y="3108960"/>
            <a:ext cx="298094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Passwordless — connect Instagram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Their own portal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Performance prediction (about to build)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01584" y="1783080"/>
            <a:ext cx="3529584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E1DA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5904" y="2057400"/>
            <a:ext cx="457200" cy="457200"/>
          </a:xfrm>
          <a:prstGeom prst="gear6">
            <a:avLst/>
          </a:prstGeom>
          <a:solidFill>
            <a:srgbClr val="6C4DF6"/>
          </a:solidFill>
          <a:ln/>
        </p:spPr>
      </p:sp>
      <p:sp>
        <p:nvSpPr>
          <p:cNvPr id="19" name="Text 17"/>
          <p:cNvSpPr/>
          <p:nvPr/>
        </p:nvSpPr>
        <p:spPr>
          <a:xfrm>
            <a:off x="9015984" y="2039112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4D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SUPER ADMIN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21624" y="2651760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operator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421624" y="3108960"/>
            <a:ext cx="298094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Private control panel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Runs data pipelines &amp; accounts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Coverage, campaigns &amp; analytics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5257800"/>
            <a:ext cx="11064240" cy="548640"/>
          </a:xfrm>
          <a:prstGeom prst="rect">
            <a:avLst/>
          </a:prstGeom>
          <a:solidFill>
            <a:srgbClr val="ECE7FB">
              <a:alpha val="7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52578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Same engine, three tailored surfaces.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ECE7FB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310896"/>
            <a:ext cx="457200" cy="420624"/>
          </a:xfrm>
          <a:prstGeom prst="heart">
            <a:avLst/>
          </a:prstGeom>
          <a:solidFill>
            <a:srgbClr val="FFFFFF">
              <a:alpha val="0"/>
            </a:srgbClr>
          </a:solidFill>
          <a:ln w="25400">
            <a:solidFill>
              <a:srgbClr val="2216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411480"/>
            <a:ext cx="237744" cy="219456"/>
          </a:xfrm>
          <a:prstGeom prst="heart">
            <a:avLst/>
          </a:prstGeom>
          <a:solidFill>
            <a:srgbClr val="FFFFFF">
              <a:alpha val="0"/>
            </a:srgbClr>
          </a:solidFill>
          <a:ln w="19050">
            <a:solidFill>
              <a:srgbClr val="2216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Super Admin Control Panel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17043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cockpit behind the product — seven screens.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18488" y="2066544"/>
            <a:ext cx="161300" cy="161300"/>
          </a:xfrm>
          <a:prstGeom prst="roundRect">
            <a:avLst>
              <a:gd name="adj" fmla="val 17007"/>
            </a:avLst>
          </a:prstGeom>
          <a:solidFill>
            <a:srgbClr val="6C4DF6"/>
          </a:solidFill>
          <a:ln/>
        </p:spPr>
      </p:sp>
      <p:sp>
        <p:nvSpPr>
          <p:cNvPr id="9" name="Shape 7"/>
          <p:cNvSpPr/>
          <p:nvPr/>
        </p:nvSpPr>
        <p:spPr>
          <a:xfrm>
            <a:off x="1839316" y="2066544"/>
            <a:ext cx="161300" cy="161300"/>
          </a:xfrm>
          <a:prstGeom prst="roundRect">
            <a:avLst>
              <a:gd name="adj" fmla="val 17007"/>
            </a:avLst>
          </a:prstGeom>
          <a:solidFill>
            <a:srgbClr val="6C4DF6"/>
          </a:solidFill>
          <a:ln/>
        </p:spPr>
      </p:sp>
      <p:sp>
        <p:nvSpPr>
          <p:cNvPr id="10" name="Shape 8"/>
          <p:cNvSpPr/>
          <p:nvPr/>
        </p:nvSpPr>
        <p:spPr>
          <a:xfrm>
            <a:off x="1618488" y="2287372"/>
            <a:ext cx="161300" cy="161300"/>
          </a:xfrm>
          <a:prstGeom prst="roundRect">
            <a:avLst>
              <a:gd name="adj" fmla="val 17007"/>
            </a:avLst>
          </a:prstGeom>
          <a:solidFill>
            <a:srgbClr val="6C4DF6"/>
          </a:solidFill>
          <a:ln/>
        </p:spPr>
      </p:sp>
      <p:sp>
        <p:nvSpPr>
          <p:cNvPr id="11" name="Shape 9"/>
          <p:cNvSpPr/>
          <p:nvPr/>
        </p:nvSpPr>
        <p:spPr>
          <a:xfrm>
            <a:off x="1839316" y="2287372"/>
            <a:ext cx="161300" cy="161300"/>
          </a:xfrm>
          <a:prstGeom prst="roundRect">
            <a:avLst>
              <a:gd name="adj" fmla="val 17007"/>
            </a:avLst>
          </a:prstGeom>
          <a:solidFill>
            <a:srgbClr val="6C4DF6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" y="253288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13232" y="286207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Database size, 24h scrapes, agency searches, accounts in rotation, job-queue depth.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10128" y="178308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61688" y="2066544"/>
            <a:ext cx="384048" cy="384048"/>
          </a:xfrm>
          <a:prstGeom prst="gear6">
            <a:avLst/>
          </a:prstGeom>
          <a:solidFill>
            <a:srgbClr val="6C4DF6"/>
          </a:solidFill>
          <a:ln/>
        </p:spPr>
      </p:sp>
      <p:sp>
        <p:nvSpPr>
          <p:cNvPr id="16" name="Text 14"/>
          <p:cNvSpPr/>
          <p:nvPr/>
        </p:nvSpPr>
        <p:spPr>
          <a:xfrm>
            <a:off x="3419856" y="253288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Scraper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456432" y="286207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Recent scrapes, account health &amp; cooling, pipeline status (healthy / rate-limited / cookie-dead).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53328" y="178308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04888" y="2277770"/>
            <a:ext cx="84491" cy="134417"/>
          </a:xfrm>
          <a:prstGeom prst="rect">
            <a:avLst/>
          </a:prstGeom>
          <a:solidFill>
            <a:srgbClr val="6C4DF6"/>
          </a:solidFill>
          <a:ln/>
        </p:spPr>
      </p:sp>
      <p:sp>
        <p:nvSpPr>
          <p:cNvPr id="20" name="Shape 18"/>
          <p:cNvSpPr/>
          <p:nvPr/>
        </p:nvSpPr>
        <p:spPr>
          <a:xfrm>
            <a:off x="7243145" y="2220163"/>
            <a:ext cx="84491" cy="249631"/>
          </a:xfrm>
          <a:prstGeom prst="rect">
            <a:avLst/>
          </a:prstGeom>
          <a:solidFill>
            <a:srgbClr val="6C4DF6"/>
          </a:solidFill>
          <a:ln/>
        </p:spPr>
      </p:sp>
      <p:sp>
        <p:nvSpPr>
          <p:cNvPr id="21" name="Shape 19"/>
          <p:cNvSpPr/>
          <p:nvPr/>
        </p:nvSpPr>
        <p:spPr>
          <a:xfrm>
            <a:off x="7383323" y="2143354"/>
            <a:ext cx="84491" cy="403250"/>
          </a:xfrm>
          <a:prstGeom prst="rect">
            <a:avLst/>
          </a:prstGeom>
          <a:solidFill>
            <a:srgbClr val="6C4DF6"/>
          </a:solidFill>
          <a:ln/>
        </p:spPr>
      </p:sp>
      <p:sp>
        <p:nvSpPr>
          <p:cNvPr id="22" name="Text 20"/>
          <p:cNvSpPr/>
          <p:nvPr/>
        </p:nvSpPr>
        <p:spPr>
          <a:xfrm>
            <a:off x="6163056" y="253288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Metrics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199632" y="286207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Worker heartbeat, crawl queue, throughput, 7-day search trends, DAU, creator growth.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796528" y="178308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48088" y="2066544"/>
            <a:ext cx="384048" cy="384048"/>
          </a:xfrm>
          <a:prstGeom prst="hexagon">
            <a:avLst/>
          </a:prstGeom>
          <a:solidFill>
            <a:srgbClr val="FFFFFF">
              <a:alpha val="0"/>
            </a:srgbClr>
          </a:solidFill>
          <a:ln w="28575">
            <a:solidFill>
              <a:srgbClr val="6C4D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06256" y="253288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Coverage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942832" y="286207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niche × city heat-map of where the database is strong and where it’s thin.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938528" y="379476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90088" y="4078224"/>
            <a:ext cx="384048" cy="384048"/>
          </a:xfrm>
          <a:prstGeom prst="pentagon">
            <a:avLst/>
          </a:prstGeom>
          <a:solidFill>
            <a:srgbClr val="6C4DF6"/>
          </a:solidFill>
          <a:ln/>
        </p:spPr>
      </p:sp>
      <p:sp>
        <p:nvSpPr>
          <p:cNvPr id="30" name="Text 28"/>
          <p:cNvSpPr/>
          <p:nvPr/>
        </p:nvSpPr>
        <p:spPr>
          <a:xfrm>
            <a:off x="2048256" y="454456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Campaigns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2084832" y="487375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Per-brand oversight — recruits, budget, spend and performance across the platform.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81728" y="379476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33288" y="4078224"/>
            <a:ext cx="384048" cy="384048"/>
          </a:xfrm>
          <a:prstGeom prst="pie">
            <a:avLst>
              <a:gd name="adj1" fmla="val 16200000"/>
              <a:gd name="adj2" fmla="val 12000000"/>
            </a:avLst>
          </a:prstGeom>
          <a:solidFill>
            <a:srgbClr val="6C4DF6"/>
          </a:solidFill>
          <a:ln/>
        </p:spPr>
      </p:sp>
      <p:sp>
        <p:nvSpPr>
          <p:cNvPr id="34" name="Text 32"/>
          <p:cNvSpPr/>
          <p:nvPr/>
        </p:nvSpPr>
        <p:spPr>
          <a:xfrm>
            <a:off x="4791456" y="454456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Analytics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828032" y="487375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System-wide KPIs, including prediction accuracy as the creator portal comes online.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424928" y="379476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76488" y="4135831"/>
            <a:ext cx="192024" cy="192024"/>
          </a:xfrm>
          <a:prstGeom prst="ellipse">
            <a:avLst/>
          </a:prstGeom>
          <a:solidFill>
            <a:srgbClr val="6C4DF6"/>
          </a:solidFill>
          <a:ln/>
        </p:spPr>
      </p:sp>
      <p:sp>
        <p:nvSpPr>
          <p:cNvPr id="38" name="Shape 36"/>
          <p:cNvSpPr/>
          <p:nvPr/>
        </p:nvSpPr>
        <p:spPr>
          <a:xfrm>
            <a:off x="8678113" y="4174236"/>
            <a:ext cx="192024" cy="192024"/>
          </a:xfrm>
          <a:prstGeom prst="ellipse">
            <a:avLst/>
          </a:prstGeom>
          <a:solidFill>
            <a:srgbClr val="6C4DF6"/>
          </a:solidFill>
          <a:ln/>
        </p:spPr>
      </p:sp>
      <p:sp>
        <p:nvSpPr>
          <p:cNvPr id="39" name="Text 37"/>
          <p:cNvSpPr/>
          <p:nvPr/>
        </p:nvSpPr>
        <p:spPr>
          <a:xfrm>
            <a:off x="7534656" y="454456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Agency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7571232" y="487375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brand-side audit — signups, logins and account activity.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ECE7FB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310896"/>
            <a:ext cx="457200" cy="420624"/>
          </a:xfrm>
          <a:prstGeom prst="heart">
            <a:avLst/>
          </a:prstGeom>
          <a:solidFill>
            <a:srgbClr val="FFFFFF">
              <a:alpha val="0"/>
            </a:srgbClr>
          </a:solidFill>
          <a:ln w="25400">
            <a:solidFill>
              <a:srgbClr val="2216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411480"/>
            <a:ext cx="237744" cy="219456"/>
          </a:xfrm>
          <a:prstGeom prst="heart">
            <a:avLst/>
          </a:prstGeom>
          <a:solidFill>
            <a:srgbClr val="FFFFFF">
              <a:alpha val="0"/>
            </a:srgbClr>
          </a:solidFill>
          <a:ln w="19050">
            <a:solidFill>
              <a:srgbClr val="2216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Influencer Intel vs. Impact.com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2344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Impact.com is a strong global partner-network platform — built for US brands, not for how India discovers creators. That gap is our opening.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7452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931920"/>
                <a:gridCol w="44805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Capability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D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Impact.com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D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Influencer Intel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D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164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India creator depth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35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 / global-first; thin India coverage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164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India-first; vernacular, regional &amp; festival creators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164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How you search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35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Filters, forms &amp; vetted marketplace lists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164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Plain-English brief — the AI reads intent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164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Data freshness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35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Marketplace + partner-reported metrics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164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Live public-profile snapshots on demand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164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Campaign fit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35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Generic tags and categories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164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Campaign mode: proven-collaborator, festival-aware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164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Data asset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35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Static partner network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164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Self-growing database — every search enriches it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164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Setup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35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Contracts, enrolment, integration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164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Type a brief, get creators in seconds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FD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58064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Impact.com is where a global brand runs a formal partner program. Influencer Intel is where an Indian brand finds the right creator for a specific campaign — faster, live, and deep in exactly the market Impact under-serves.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ECE7FB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310896"/>
            <a:ext cx="457200" cy="420624"/>
          </a:xfrm>
          <a:prstGeom prst="heart">
            <a:avLst/>
          </a:prstGeom>
          <a:solidFill>
            <a:srgbClr val="FFFFFF">
              <a:alpha val="0"/>
            </a:srgbClr>
          </a:solidFill>
          <a:ln w="25400">
            <a:solidFill>
              <a:srgbClr val="2216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411480"/>
            <a:ext cx="237744" cy="219456"/>
          </a:xfrm>
          <a:prstGeom prst="heart">
            <a:avLst/>
          </a:prstGeom>
          <a:solidFill>
            <a:srgbClr val="FFFFFF">
              <a:alpha val="0"/>
            </a:srgbClr>
          </a:solidFill>
          <a:ln w="19050">
            <a:solidFill>
              <a:srgbClr val="2216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About to Build: The Influencer Portal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17043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next build opens the other side of the market.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66928" y="1554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Today the platform serves brands. Next it opens to creators: an influencer connects their account and the platform predicts how their next reel or post will perform — before they publish it.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377440"/>
            <a:ext cx="2487168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18488" y="2660904"/>
            <a:ext cx="384048" cy="384048"/>
          </a:xfrm>
          <a:prstGeom prst="donut">
            <a:avLst/>
          </a:prstGeom>
          <a:solidFill>
            <a:srgbClr val="6C4DF6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312724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Performance prediction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13232" y="3456432"/>
            <a:ext cx="219456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Forecast reach and engagement for a planned reel or post — post what will land.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10128" y="2377440"/>
            <a:ext cx="2487168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61688" y="2660904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6C4D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3712" y="2756916"/>
            <a:ext cx="0" cy="96012"/>
          </a:xfrm>
          <a:prstGeom prst="line">
            <a:avLst/>
          </a:prstGeom>
          <a:noFill/>
          <a:ln w="25400">
            <a:solidFill>
              <a:srgbClr val="6C4D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53712" y="2852928"/>
            <a:ext cx="96012" cy="0"/>
          </a:xfrm>
          <a:prstGeom prst="line">
            <a:avLst/>
          </a:prstGeom>
          <a:noFill/>
          <a:ln w="25400">
            <a:solidFill>
              <a:srgbClr val="6C4D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9856" y="312724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Best-time &amp; format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456432" y="3456432"/>
            <a:ext cx="219456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When to post and which format is likely to perform for their specific audience.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53328" y="2377440"/>
            <a:ext cx="2487168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04888" y="2660904"/>
            <a:ext cx="230429" cy="384048"/>
          </a:xfrm>
          <a:prstGeom prst="chevron">
            <a:avLst/>
          </a:prstGeom>
          <a:solidFill>
            <a:srgbClr val="6C4DF6"/>
          </a:solidFill>
          <a:ln/>
        </p:spPr>
      </p:sp>
      <p:sp>
        <p:nvSpPr>
          <p:cNvPr id="20" name="Shape 18"/>
          <p:cNvSpPr/>
          <p:nvPr/>
        </p:nvSpPr>
        <p:spPr>
          <a:xfrm>
            <a:off x="7277710" y="2660904"/>
            <a:ext cx="230429" cy="384048"/>
          </a:xfrm>
          <a:prstGeom prst="chevron">
            <a:avLst/>
          </a:prstGeom>
          <a:solidFill>
            <a:srgbClr val="8B6DF5"/>
          </a:solidFill>
          <a:ln/>
        </p:spPr>
      </p:sp>
      <p:sp>
        <p:nvSpPr>
          <p:cNvPr id="21" name="Text 19"/>
          <p:cNvSpPr/>
          <p:nvPr/>
        </p:nvSpPr>
        <p:spPr>
          <a:xfrm>
            <a:off x="6163056" y="312724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Brand-fit signals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199632" y="3456432"/>
            <a:ext cx="219456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Which brands and campaigns they match — feeding back into brand-side discovery.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796528" y="2377440"/>
            <a:ext cx="2487168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05695" y="2660904"/>
            <a:ext cx="268834" cy="384048"/>
          </a:xfrm>
          <a:prstGeom prst="upArrow">
            <a:avLst/>
          </a:prstGeom>
          <a:solidFill>
            <a:srgbClr val="6C4DF6"/>
          </a:solidFill>
          <a:ln/>
        </p:spPr>
      </p:sp>
      <p:sp>
        <p:nvSpPr>
          <p:cNvPr id="25" name="Text 23"/>
          <p:cNvSpPr/>
          <p:nvPr/>
        </p:nvSpPr>
        <p:spPr>
          <a:xfrm>
            <a:off x="8906256" y="312724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Growth tracking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942832" y="3456432"/>
            <a:ext cx="219456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running view of what’s working, so creators see the effect of the guidance.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6928" y="4892040"/>
            <a:ext cx="11064240" cy="777240"/>
          </a:xfrm>
          <a:prstGeom prst="rect">
            <a:avLst/>
          </a:prstGeom>
          <a:solidFill>
            <a:srgbClr val="ECE7FB">
              <a:alpha val="7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moment creators log in for predictions, they hand us first-party performance data no scraper can get — turning a discovery tool into a two-sided network.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ECE7FB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310896"/>
            <a:ext cx="457200" cy="420624"/>
          </a:xfrm>
          <a:prstGeom prst="heart">
            <a:avLst/>
          </a:prstGeom>
          <a:solidFill>
            <a:srgbClr val="FFFFFF">
              <a:alpha val="0"/>
            </a:srgbClr>
          </a:solidFill>
          <a:ln w="25400">
            <a:solidFill>
              <a:srgbClr val="2216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411480"/>
            <a:ext cx="237744" cy="219456"/>
          </a:xfrm>
          <a:prstGeom prst="heart">
            <a:avLst/>
          </a:prstGeom>
          <a:solidFill>
            <a:srgbClr val="FFFFFF">
              <a:alpha val="0"/>
            </a:srgbClr>
          </a:solidFill>
          <a:ln w="19050">
            <a:solidFill>
              <a:srgbClr val="2216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This Goes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66928" y="1920240"/>
            <a:ext cx="3529584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E1DA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194560"/>
            <a:ext cx="2980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6C4D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86968" y="2880360"/>
            <a:ext cx="2980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86968" y="3383280"/>
            <a:ext cx="28895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working, India-first discovery engine brands can use now.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34256" y="1920240"/>
            <a:ext cx="3529584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E1DA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54296" y="2194560"/>
            <a:ext cx="2980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6C4D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54296" y="2880360"/>
            <a:ext cx="2980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54296" y="3383280"/>
            <a:ext cx="28895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creator portal with performance prediction — a two-sided network with a proprietary data flywheel.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1584" y="1920240"/>
            <a:ext cx="3529584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E1DA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21624" y="2194560"/>
            <a:ext cx="2980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6C4D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421624" y="2880360"/>
            <a:ext cx="2980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Moat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1624" y="3383280"/>
            <a:ext cx="28895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search and every creator login makes the data — and the predictions — better. That advantage compounds and is hard to copy.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" y="5074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more it’s used, the more defensible it becomes.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E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320000">
            <a:off x="-1463040" y="-457200"/>
            <a:ext cx="4754880" cy="457200"/>
          </a:xfrm>
          <a:prstGeom prst="roundRect">
            <a:avLst>
              <a:gd name="adj" fmla="val 50000"/>
            </a:avLst>
          </a:prstGeom>
          <a:solidFill>
            <a:srgbClr val="8B6DF5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1320000">
            <a:off x="-1645920" y="91440"/>
            <a:ext cx="4937760" cy="292608"/>
          </a:xfrm>
          <a:prstGeom prst="roundRect">
            <a:avLst>
              <a:gd name="adj" fmla="val 78125"/>
            </a:avLst>
          </a:prstGeom>
          <a:solidFill>
            <a:srgbClr val="C9BCF9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1320000">
            <a:off x="8778240" y="603504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8B6DF5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-1320000">
            <a:off x="8595360" y="6583680"/>
            <a:ext cx="5120640" cy="292608"/>
          </a:xfrm>
          <a:prstGeom prst="roundRect">
            <a:avLst>
              <a:gd name="adj" fmla="val 78125"/>
            </a:avLst>
          </a:prstGeom>
          <a:solidFill>
            <a:srgbClr val="C9BCF9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029200" y="2331720"/>
            <a:ext cx="548640" cy="512064"/>
          </a:xfrm>
          <a:prstGeom prst="heart">
            <a:avLst/>
          </a:prstGeom>
          <a:solidFill>
            <a:srgbClr val="FFFFFF">
              <a:alpha val="0"/>
            </a:srgbClr>
          </a:solidFill>
          <a:ln w="31750">
            <a:solidFill>
              <a:srgbClr val="2216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57216" y="2450592"/>
            <a:ext cx="292608" cy="274320"/>
          </a:xfrm>
          <a:prstGeom prst="heart">
            <a:avLst/>
          </a:prstGeom>
          <a:solidFill>
            <a:srgbClr val="FFFFFF">
              <a:alpha val="0"/>
            </a:srgbClr>
          </a:solidFill>
          <a:ln w="25400">
            <a:solidFill>
              <a:srgbClr val="2216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0" y="22402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Influencer Intel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3566160" y="3291840"/>
            <a:ext cx="5056632" cy="0"/>
          </a:xfrm>
          <a:prstGeom prst="line">
            <a:avLst/>
          </a:prstGeom>
          <a:noFill/>
          <a:ln w="19050">
            <a:solidFill>
              <a:srgbClr val="8B6D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3768" y="379476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BC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3768" y="3794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India-first influencer discovery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49928" y="379476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BC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49928" y="3794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Live, ranked, AI-native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16088" y="379476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BC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16088" y="3794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Prepared for leadership review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Influencer Intel — Executive Presentation</dc:title>
  <dc:subject>PptxGenJS Presentation</dc:subject>
  <dc:creator>Influencer Intel</dc:creator>
  <cp:lastModifiedBy>Influencer Intel</cp:lastModifiedBy>
  <cp:revision>1</cp:revision>
  <dcterms:created xsi:type="dcterms:W3CDTF">2026-08-02T12:05:35Z</dcterms:created>
  <dcterms:modified xsi:type="dcterms:W3CDTF">2026-08-02T12:05:35Z</dcterms:modified>
</cp:coreProperties>
</file>